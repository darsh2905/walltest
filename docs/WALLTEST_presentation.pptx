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6ff7032-3008-0cd4-7bb3-91eebae22d44}">
          <p14:sldIdLst>
            <p14:sldId id="256"/>
          </p14:sldIdLst>
        </p14:section>
        <p14:section name="The problem" id="{dcd79d3a-73eb-13c7-c756-c4b9b9c63664}">
          <p14:sldIdLst>
            <p14:sldId id="257"/>
            <p14:sldId id="258"/>
          </p14:sldIdLst>
        </p14:section>
        <p14:section name="The method" id="{ef2e5310-16c4-c56b-07d7-15f0997106e3}">
          <p14:sldIdLst>
            <p14:sldId id="259"/>
            <p14:sldId id="260"/>
            <p14:sldId id="261"/>
            <p14:sldId id="262"/>
          </p14:sldIdLst>
        </p14:section>
        <p14:section name="The database" id="{f251a57d-3c99-7be4-0d92-faf93f5be1d2}">
          <p14:sldIdLst>
            <p14:sldId id="263"/>
            <p14:sldId id="264"/>
            <p14:sldId id="265"/>
            <p14:sldId id="266"/>
            <p14:sldId id="267"/>
          </p14:sldIdLst>
        </p14:section>
        <p14:section name="The statistics" id="{7655b5d3-635b-1f17-ff13-ed0bd3768fee}">
          <p14:sldIdLst>
            <p14:sldId id="268"/>
            <p14:sldId id="269"/>
            <p14:sldId id="270"/>
          </p14:sldIdLst>
        </p14:section>
        <p14:section name="Results" id="{e4b4f172-f7ba-60a1-28c3-69f13d372aa6}">
          <p14:sldIdLst>
            <p14:sldId id="271"/>
            <p14:sldId id="272"/>
            <p14:sldId id="273"/>
            <p14:sldId id="274"/>
            <p14:sldId id="275"/>
          </p14:sldIdLst>
        </p14:section>
        <p14:section name="Close" id="{71ac7d9e-5e2a-42ac-3421-8cb868d29fcf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171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4171A"/>
                </a:solidFill>
                <a:latin typeface="+mn-lt"/>
              </a:rPr>
              <a:t>Settings flagged LEAK (of 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Settings flagged LEAK (of 8)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17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3A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trader-leaky</c:v>
                  </c:pt>
                  <c:pt idx="1">
                    <c:v>trader-partial</c:v>
                  </c:pt>
                  <c:pt idx="2">
                    <c:v>trader-clean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4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417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17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E3E6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171A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4171A"/>
                </a:solidFill>
                <a:latin typeface="+mn-lt"/>
              </a:rPr>
              <a:t>Probability the audit flags every truly-leaky cell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P(every truly-leaky cell flagged)</c:v>
                </c:pt>
              </c:strCache>
            </c:strRef>
          </c:tx>
          <c:spPr>
            <a:solidFill>
              <a:srgbClr val="2C5B8C"/>
            </a:solidFill>
            <a:ln w="38100" cap="flat">
              <a:solidFill>
                <a:srgbClr val="2C5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C5B8C"/>
              </a:solidFill>
              <a:ln w="9525" cap="flat">
                <a:solidFill>
                  <a:srgbClr val="2C5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8</c:v>
                  </c:pt>
                  <c:pt idx="1">
                    <c:v>9</c:v>
                  </c:pt>
                  <c:pt idx="2">
                    <c:v>10</c:v>
                  </c:pt>
                  <c:pt idx="3">
                    <c:v>11</c:v>
                  </c:pt>
                  <c:pt idx="4">
                    <c:v>12</c:v>
                  </c:pt>
                  <c:pt idx="5">
                    <c:v>13</c:v>
                  </c:pt>
                  <c:pt idx="6">
                    <c:v>14</c:v>
                  </c:pt>
                  <c:pt idx="7">
                    <c:v>15</c:v>
                  </c:pt>
                  <c:pt idx="8">
                    <c:v>16</c:v>
                  </c:pt>
                  <c:pt idx="9">
                    <c:v>17</c:v>
                  </c:pt>
                  <c:pt idx="10">
                    <c:v>18</c:v>
                  </c:pt>
                  <c:pt idx="11">
                    <c:v>19</c:v>
                  </c:pt>
                  <c:pt idx="12">
                    <c:v>20</c:v>
                  </c:pt>
                  <c:pt idx="13">
                    <c:v>21</c:v>
                  </c:pt>
                  <c:pt idx="14">
                    <c:v>22</c:v>
                  </c:pt>
                  <c:pt idx="15">
                    <c:v>23</c:v>
                  </c:pt>
                  <c:pt idx="16">
                    <c:v>24</c:v>
                  </c:pt>
                  <c:pt idx="17">
                    <c:v>25</c:v>
                  </c:pt>
                  <c:pt idx="18">
                    <c:v>26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0.008</c:v>
                </c:pt>
                <c:pt idx="2">
                  <c:v>0.004</c:v>
                </c:pt>
                <c:pt idx="3">
                  <c:v>0.002</c:v>
                </c:pt>
                <c:pt idx="4">
                  <c:v>0.036</c:v>
                </c:pt>
                <c:pt idx="5">
                  <c:v>0.201</c:v>
                </c:pt>
                <c:pt idx="6">
                  <c:v>0.164</c:v>
                </c:pt>
                <c:pt idx="7">
                  <c:v>0.127</c:v>
                </c:pt>
                <c:pt idx="8">
                  <c:v>0.622</c:v>
                </c:pt>
                <c:pt idx="9">
                  <c:v>0.57</c:v>
                </c:pt>
                <c:pt idx="10">
                  <c:v>0.518</c:v>
                </c:pt>
                <c:pt idx="11">
                  <c:v>0.859</c:v>
                </c:pt>
                <c:pt idx="12">
                  <c:v>0.84</c:v>
                </c:pt>
                <c:pt idx="13">
                  <c:v>0.807</c:v>
                </c:pt>
                <c:pt idx="14">
                  <c:v>0.956</c:v>
                </c:pt>
                <c:pt idx="15">
                  <c:v>0.946</c:v>
                </c:pt>
                <c:pt idx="16">
                  <c:v>0.989</c:v>
                </c:pt>
                <c:pt idx="17">
                  <c:v>0.987</c:v>
                </c:pt>
                <c:pt idx="18">
                  <c:v>0.983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F7780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6F7780"/>
                    </a:solidFill>
                    <a:latin typeface="+mn-lt"/>
                  </a:rPr>
                  <a:t>slots per setting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17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6E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F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WALLTEST is a PostgreSQL system that tests, with a measurable error rate, whether confidential deal information held by a firm's AI research agents is reaching its AI trading agents through the data stores they share. The picture on the right is the idea: a wall with three gates, and a dot crossing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two sides. Research holds UPSI; trading must not. Regulators require firms to keep a structured digital database of who shared what. The new risk: AI agents on both sides sharing infrastructure such as a vector memory, a notes table or a cache.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 from the proposal: access control is not enough; text filters fail on paraphrase; and logs show activity, not leakage. The answer is to test by experiment, using the database as the audit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steps. Stress that the coin result is hidden from every agent, and that a single slot proves nothing because guessing gets 50% right; the audit repeats the experiment and tests the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152 slots = 8 settings x 19. Each setting switches some of the shared channels off, which later lets us attribute a leak to a channel. Commitments are published three slots ahead, so even a one-second stall cannot break commit-before-expose.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rows from the database. The same secret reaches the traders in three different forms. A permission check sees nothing wrong with any of them because the channels are owned by a public department.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we planted the leak, we know the right answer. The clean agent trades on price momentum; its accuracy is exactly 50% because the canary direction is randomised independently of prices. The UI labels these agents as validation instruments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reference implementation truncated the start time to whole seconds; we use microseconds. A known-answer vector (campaign 7, 2026-01-02 03:04:05.123456, flip 1, salt 00..1f) is asserted in SQL, Python and the browser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paths into one database: humans through the dashboard, agents only through the logged gateway, and the audit engine driving the experiment. The logic lives in SQL; the API is deliberately thin.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Per-slot scores are derived by views, never stored, so they cannot disagree with the data. Only audit_result stores derived values, on purpose, as a frozen snapshot. Prices are real NSE end-of-day data; ISINs were checked against NSE's own files and the ISO 6166 check 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API never connects as a superuser or table owner, because both bypass RLS and would make the wall fake. It logs in as walltest_api and switches to one of four roles per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opportunity: press 'low_side SELECT on upsi_item'. First the privilege refuses; then, with a leaked privilege simulated, row-level security returns zero rows. Both are PostgreSQL's real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0.5 is luck. A p-value is the chance that luck alone gives a result this good. We test 24 things at once so the adjusted p is stricter. The leakage lower bound is deliberately small: it says at least this much leaked.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come from the frozen audit_result rows of a real campaign: leaky flagged in 7 of 8 settings, partial in the 4 vector-memory settings, clean in none. The one setting where leaky is not flagged is the all-channels-off cell, exactly as planted.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proposal's own table (94 / 384 / 1,543 slots at alpha 0.001) is the normal approximation; the exact binomial needs 95 / 386 / 1,551. The demo defaults come from the exact calculation, reproduced by scripts/choose_defaults.py.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accuracy over all settings is lower than 0.95 because it includes settings where the channels are off. The clean agent's 51% is chance. Compare the per-setting table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one number: in the 100-campaign power run, false alarms on null cells happened in 6 of 100 against 3.1% predicted, 1.7 standard deviations high and within noise at n = 100; Holm's guarantee holds under any dependence.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mocked: tests use real roles and a real PostgreSQL. The statistical functions are validated against independent implementations on a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strongest argument that the evaluation is trustworthy: each surprising number was investigated, not tuned away. The red icon colour here marks bugs, not LEAK verdicts.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repeats the data-honesty statements on every page via badges. Real UPSI, live trading and intraday data are out of scope, as in the proposal.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demo: start the live audit on the Wall page and narrate while the 152 slots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ick 0-0"/>
          <p:cNvSpPr/>
          <p:nvPr/>
        </p:nvSpPr>
        <p:spPr>
          <a:xfrm>
            <a:off x="8321040" y="50292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" name="brick 0-1"/>
          <p:cNvSpPr/>
          <p:nvPr/>
        </p:nvSpPr>
        <p:spPr>
          <a:xfrm>
            <a:off x="9144000" y="50292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4" name="brick 0-2"/>
          <p:cNvSpPr/>
          <p:nvPr/>
        </p:nvSpPr>
        <p:spPr>
          <a:xfrm>
            <a:off x="9966960" y="50292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5" name="brick 1-0"/>
          <p:cNvSpPr/>
          <p:nvPr/>
        </p:nvSpPr>
        <p:spPr>
          <a:xfrm>
            <a:off x="8732520" y="99669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6" name="brick 1-1"/>
          <p:cNvSpPr/>
          <p:nvPr/>
        </p:nvSpPr>
        <p:spPr>
          <a:xfrm>
            <a:off x="9555480" y="99669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7" name="brick 1-2"/>
          <p:cNvSpPr/>
          <p:nvPr/>
        </p:nvSpPr>
        <p:spPr>
          <a:xfrm>
            <a:off x="10378440" y="99669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8" name="brick 2-0"/>
          <p:cNvSpPr/>
          <p:nvPr/>
        </p:nvSpPr>
        <p:spPr>
          <a:xfrm>
            <a:off x="8321040" y="1490472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9" name="brick 2-1"/>
          <p:cNvSpPr/>
          <p:nvPr/>
        </p:nvSpPr>
        <p:spPr>
          <a:xfrm>
            <a:off x="9144000" y="1490472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0" name="brick 2-2"/>
          <p:cNvSpPr/>
          <p:nvPr/>
        </p:nvSpPr>
        <p:spPr>
          <a:xfrm>
            <a:off x="9966960" y="1490472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1" name="brick 3-0"/>
          <p:cNvSpPr/>
          <p:nvPr/>
        </p:nvSpPr>
        <p:spPr>
          <a:xfrm>
            <a:off x="8732520" y="1984248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2" name="brick 3-1"/>
          <p:cNvSpPr/>
          <p:nvPr/>
        </p:nvSpPr>
        <p:spPr>
          <a:xfrm>
            <a:off x="9555480" y="1984248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3" name="brick 3-2"/>
          <p:cNvSpPr/>
          <p:nvPr/>
        </p:nvSpPr>
        <p:spPr>
          <a:xfrm>
            <a:off x="10378440" y="1984248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4" name="brick 4-0"/>
          <p:cNvSpPr/>
          <p:nvPr/>
        </p:nvSpPr>
        <p:spPr>
          <a:xfrm>
            <a:off x="8321040" y="2478024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5" name="brick 4-1"/>
          <p:cNvSpPr/>
          <p:nvPr/>
        </p:nvSpPr>
        <p:spPr>
          <a:xfrm>
            <a:off x="9144000" y="2478024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6" name="brick 4-2"/>
          <p:cNvSpPr/>
          <p:nvPr/>
        </p:nvSpPr>
        <p:spPr>
          <a:xfrm>
            <a:off x="9966960" y="2478024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7" name="brick 5-0"/>
          <p:cNvSpPr/>
          <p:nvPr/>
        </p:nvSpPr>
        <p:spPr>
          <a:xfrm>
            <a:off x="8732520" y="297180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8" name="brick 5-1"/>
          <p:cNvSpPr/>
          <p:nvPr/>
        </p:nvSpPr>
        <p:spPr>
          <a:xfrm>
            <a:off x="9555480" y="297180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19" name="brick 5-2"/>
          <p:cNvSpPr/>
          <p:nvPr/>
        </p:nvSpPr>
        <p:spPr>
          <a:xfrm>
            <a:off x="10378440" y="297180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0" name="brick 6-0"/>
          <p:cNvSpPr/>
          <p:nvPr/>
        </p:nvSpPr>
        <p:spPr>
          <a:xfrm>
            <a:off x="8321040" y="346557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1" name="brick 6-1"/>
          <p:cNvSpPr/>
          <p:nvPr/>
        </p:nvSpPr>
        <p:spPr>
          <a:xfrm>
            <a:off x="9144000" y="346557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2" name="brick 6-2"/>
          <p:cNvSpPr/>
          <p:nvPr/>
        </p:nvSpPr>
        <p:spPr>
          <a:xfrm>
            <a:off x="9966960" y="346557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3" name="brick 7-0"/>
          <p:cNvSpPr/>
          <p:nvPr/>
        </p:nvSpPr>
        <p:spPr>
          <a:xfrm>
            <a:off x="8732520" y="3959352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4" name="brick 7-1"/>
          <p:cNvSpPr/>
          <p:nvPr/>
        </p:nvSpPr>
        <p:spPr>
          <a:xfrm>
            <a:off x="9555480" y="3959352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5" name="brick 7-2"/>
          <p:cNvSpPr/>
          <p:nvPr/>
        </p:nvSpPr>
        <p:spPr>
          <a:xfrm>
            <a:off x="10378440" y="3959352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6" name="brick 8-0"/>
          <p:cNvSpPr/>
          <p:nvPr/>
        </p:nvSpPr>
        <p:spPr>
          <a:xfrm>
            <a:off x="8321040" y="4453128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7" name="brick 8-1"/>
          <p:cNvSpPr/>
          <p:nvPr/>
        </p:nvSpPr>
        <p:spPr>
          <a:xfrm>
            <a:off x="9144000" y="4453128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8" name="brick 8-2"/>
          <p:cNvSpPr/>
          <p:nvPr/>
        </p:nvSpPr>
        <p:spPr>
          <a:xfrm>
            <a:off x="9966960" y="4453128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29" name="brick 9-0"/>
          <p:cNvSpPr/>
          <p:nvPr/>
        </p:nvSpPr>
        <p:spPr>
          <a:xfrm>
            <a:off x="8732520" y="4946904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0" name="brick 9-1"/>
          <p:cNvSpPr/>
          <p:nvPr/>
        </p:nvSpPr>
        <p:spPr>
          <a:xfrm>
            <a:off x="9555480" y="4946904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1" name="brick 9-2"/>
          <p:cNvSpPr/>
          <p:nvPr/>
        </p:nvSpPr>
        <p:spPr>
          <a:xfrm>
            <a:off x="10378440" y="4946904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2" name="brick 10-0"/>
          <p:cNvSpPr/>
          <p:nvPr/>
        </p:nvSpPr>
        <p:spPr>
          <a:xfrm>
            <a:off x="8321040" y="544068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3" name="brick 10-1"/>
          <p:cNvSpPr/>
          <p:nvPr/>
        </p:nvSpPr>
        <p:spPr>
          <a:xfrm>
            <a:off x="9144000" y="544068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4" name="brick 10-2"/>
          <p:cNvSpPr/>
          <p:nvPr/>
        </p:nvSpPr>
        <p:spPr>
          <a:xfrm>
            <a:off x="9966960" y="5440680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5" name="brick 11-0"/>
          <p:cNvSpPr/>
          <p:nvPr/>
        </p:nvSpPr>
        <p:spPr>
          <a:xfrm>
            <a:off x="8732520" y="593445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6" name="brick 11-1"/>
          <p:cNvSpPr/>
          <p:nvPr/>
        </p:nvSpPr>
        <p:spPr>
          <a:xfrm>
            <a:off x="9555480" y="593445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7" name="brick 11-2"/>
          <p:cNvSpPr/>
          <p:nvPr/>
        </p:nvSpPr>
        <p:spPr>
          <a:xfrm>
            <a:off x="10378440" y="5934456"/>
            <a:ext cx="786384" cy="457200"/>
          </a:xfrm>
          <a:prstGeom prst="rect">
            <a:avLst/>
          </a:prstGeom>
          <a:solidFill>
            <a:schemeClr val="tx2"/>
          </a:solidFill>
          <a:ln w="12700">
            <a:solidFill>
              <a:srgbClr val="14171A"/>
            </a:solidFill>
            <a:prstDash val="solid"/>
          </a:ln>
        </p:spPr>
      </p:sp>
      <p:sp>
        <p:nvSpPr>
          <p:cNvPr id="38" name="gate 0"/>
          <p:cNvSpPr/>
          <p:nvPr/>
        </p:nvSpPr>
        <p:spPr>
          <a:xfrm>
            <a:off x="9144000" y="123444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14171A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9" name="gate 1"/>
          <p:cNvSpPr/>
          <p:nvPr/>
        </p:nvSpPr>
        <p:spPr>
          <a:xfrm>
            <a:off x="9144000" y="288036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14171A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0" name="gate 2"/>
          <p:cNvSpPr/>
          <p:nvPr/>
        </p:nvSpPr>
        <p:spPr>
          <a:xfrm>
            <a:off x="9144000" y="4526280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14171A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1" name="leak dot"/>
          <p:cNvSpPr/>
          <p:nvPr/>
        </p:nvSpPr>
        <p:spPr>
          <a:xfrm>
            <a:off x="9784080" y="3154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5"/>
                </a:solidFill>
              </a:rPr>
              <a:t>DATABASE SYSTEMS LAB PROJECT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16459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WALLTEST</a:t>
            </a:r>
            <a:endParaRPr lang="en-US" sz="8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30175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 canary-instrumented database for auditing information barriers between AI agents in a securities firm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Darsh Sharma  24BDS0082   ·   Abhiram Kalla  24BCT0127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Insider secrets must not cross the wall</a:t>
            </a:r>
            <a:endParaRPr lang="en-US" sz="3600" dirty="0"/>
          </a:p>
        </p:txBody>
      </p:sp>
      <p:sp>
        <p:nvSpPr>
          <p:cNvPr id="3" name="card 0"/>
          <p:cNvSpPr/>
          <p:nvPr/>
        </p:nvSpPr>
        <p:spPr>
          <a:xfrm>
            <a:off x="548640" y="1463040"/>
            <a:ext cx="33375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0 circl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9238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Research side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Learns unpublished price-sensitive information (UPSI): results, mergers, big contracts, before the public does.</a:t>
            </a:r>
            <a:endParaRPr lang="en-US" sz="1400" dirty="0"/>
          </a:p>
        </p:txBody>
      </p:sp>
      <p:sp>
        <p:nvSpPr>
          <p:cNvPr id="8" name="card 1"/>
          <p:cNvSpPr/>
          <p:nvPr/>
        </p:nvSpPr>
        <p:spPr>
          <a:xfrm>
            <a:off x="4434840" y="1463040"/>
            <a:ext cx="33375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1 circle"/>
          <p:cNvSpPr/>
          <p:nvPr/>
        </p:nvSpPr>
        <p:spPr>
          <a:xfrm>
            <a:off x="4709160" y="173736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19238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information wall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108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“Chinese wall”: policy says the public side should have no access to any file or database holding UPSI.</a:t>
            </a:r>
            <a:endParaRPr lang="en-US" sz="1400" dirty="0"/>
          </a:p>
        </p:txBody>
      </p:sp>
      <p:sp>
        <p:nvSpPr>
          <p:cNvPr id="13" name="card 2"/>
          <p:cNvSpPr/>
          <p:nvPr/>
        </p:nvSpPr>
        <p:spPr>
          <a:xfrm>
            <a:off x="8321040" y="1463040"/>
            <a:ext cx="333756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2 circle"/>
          <p:cNvSpPr/>
          <p:nvPr/>
        </p:nvSpPr>
        <p:spPr>
          <a:xfrm>
            <a:off x="8595360" y="173736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898" y="192389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9536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Trading side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595360" y="3108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Buys and sells shares. Trading on UPSI is insider trading, prohibited under SEBI (PIT) Regulations, 2015.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both jobs are done by AI agents, 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same databases.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SEBI’s 2025 AI/ML consultation asks firms to test continuously and keep logs that can reconstruct events. The data layer is the weak point.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Access control cannot see this leak</a:t>
            </a:r>
            <a:endParaRPr lang="en-US" sz="3600" dirty="0"/>
          </a:p>
        </p:txBody>
      </p:sp>
      <p:sp>
        <p:nvSpPr>
          <p:cNvPr id="3" name="gap 0 circle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gap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75199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Permissions look clean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1874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trading agent has no grant on the UPSI table, yet can still learn from a shared vector memory, a summary table, a cached feature, or the timing of rows.</a:t>
            </a:r>
            <a:endParaRPr lang="en-US" sz="1400" dirty="0"/>
          </a:p>
        </p:txBody>
      </p:sp>
      <p:sp>
        <p:nvSpPr>
          <p:cNvPr id="7" name="gap 1 circle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gap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" y="31693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880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Reading messages does not work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3291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Agents paraphrase, compress or encode. A keyword or classifier filter on text misses information that has been re-expressed.</a:t>
            </a:r>
            <a:endParaRPr lang="en-US" sz="1400" dirty="0"/>
          </a:p>
        </p:txBody>
      </p:sp>
      <p:sp>
        <p:nvSpPr>
          <p:cNvPr id="11" name="gap 2 circle"/>
          <p:cNvSpPr/>
          <p:nvPr/>
        </p:nvSpPr>
        <p:spPr>
          <a:xfrm>
            <a:off x="548640" y="43891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gap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4586630"/>
            <a:ext cx="427939" cy="4279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4297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Logs show activity, not leakage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47091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access log says who touched what. It cannot answer: did the inside area change the public area’s decisions?</a:t>
            </a:r>
            <a:endParaRPr lang="en-US" sz="1400" dirty="0"/>
          </a:p>
        </p:txBody>
      </p:sp>
      <p:sp>
        <p:nvSpPr>
          <p:cNvPr id="15" name="answer card"/>
          <p:cNvSpPr/>
          <p:nvPr/>
        </p:nvSpPr>
        <p:spPr>
          <a:xfrm>
            <a:off x="7863840" y="1463040"/>
            <a:ext cx="3794760" cy="4251960"/>
          </a:xfrm>
          <a:prstGeom prst="roundRect">
            <a:avLst>
              <a:gd name="adj" fmla="val 289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813816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measure it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23774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the trading agent’s orders track a hidden canary more often than chance allows, information is crossing the wall.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 statistical test says by how much, with a fixed false-alarm 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idea: plant a canary, watch behaviour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548640" y="1508760"/>
            <a:ext cx="2057400" cy="3200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s0 circle"/>
          <p:cNvSpPr/>
          <p:nvPr/>
        </p:nvSpPr>
        <p:spPr>
          <a:xfrm>
            <a:off x="169164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s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7205" y="18214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Fake secret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synthetic story about one stock, in a good and a bad version.</a:t>
            </a:r>
            <a:endParaRPr lang="en-US" sz="1400" dirty="0"/>
          </a:p>
        </p:txBody>
      </p:sp>
      <p:sp>
        <p:nvSpPr>
          <p:cNvPr id="9" name="step 2"/>
          <p:cNvSpPr/>
          <p:nvPr/>
        </p:nvSpPr>
        <p:spPr>
          <a:xfrm>
            <a:off x="2788920" y="1508760"/>
            <a:ext cx="2057400" cy="3200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971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s1 circle"/>
          <p:cNvSpPr/>
          <p:nvPr/>
        </p:nvSpPr>
        <p:spPr>
          <a:xfrm>
            <a:off x="393192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s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485" y="182148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180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Secret coin flip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Chooses good or bad. Its SHA-256 hash is published before the slot opens.</a:t>
            </a:r>
            <a:endParaRPr lang="en-US" sz="1400" dirty="0"/>
          </a:p>
        </p:txBody>
      </p:sp>
      <p:sp>
        <p:nvSpPr>
          <p:cNvPr id="15" name="step 3"/>
          <p:cNvSpPr/>
          <p:nvPr/>
        </p:nvSpPr>
        <p:spPr>
          <a:xfrm>
            <a:off x="5029200" y="1508760"/>
            <a:ext cx="2057400" cy="3200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212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s2 circle"/>
          <p:cNvSpPr/>
          <p:nvPr/>
        </p:nvSpPr>
        <p:spPr>
          <a:xfrm>
            <a:off x="617220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s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765" y="182148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Research sees one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Writes a reworded note into the shared channels.</a:t>
            </a:r>
            <a:endParaRPr lang="en-US" sz="1400" dirty="0"/>
          </a:p>
        </p:txBody>
      </p:sp>
      <p:sp>
        <p:nvSpPr>
          <p:cNvPr id="21" name="step 4"/>
          <p:cNvSpPr/>
          <p:nvPr/>
        </p:nvSpPr>
        <p:spPr>
          <a:xfrm>
            <a:off x="7269480" y="1508760"/>
            <a:ext cx="2057400" cy="3200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4523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s3 circle"/>
          <p:cNvSpPr/>
          <p:nvPr/>
        </p:nvSpPr>
        <p:spPr>
          <a:xfrm>
            <a:off x="84124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s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045" y="182148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Traders trade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45236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Orders are placed during the one-second slot.</a:t>
            </a:r>
            <a:endParaRPr lang="en-US" sz="1400" dirty="0"/>
          </a:p>
        </p:txBody>
      </p:sp>
      <p:sp>
        <p:nvSpPr>
          <p:cNvPr id="27" name="step 5"/>
          <p:cNvSpPr/>
          <p:nvPr/>
        </p:nvSpPr>
        <p:spPr>
          <a:xfrm>
            <a:off x="9509760" y="1508760"/>
            <a:ext cx="2057400" cy="3200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9692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s4 circle"/>
          <p:cNvSpPr/>
          <p:nvPr/>
        </p:nvSpPr>
        <p:spPr>
          <a:xfrm>
            <a:off x="1065276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s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8325" y="1821485"/>
            <a:ext cx="380390" cy="38039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926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Reveal and score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692640" y="30632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Net BUY = guessed good, net SELL = guessed bad, no trade = wrong.</a:t>
            </a:r>
            <a:endParaRPr lang="en-US" sz="1400" dirty="0"/>
          </a:p>
        </p:txBody>
      </p:sp>
      <p:sp>
        <p:nvSpPr>
          <p:cNvPr id="33" name="verdict bar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14400" y="5138928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trader that guesses right </a:t>
            </a:r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far more than 50%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 of the time, over many slots, must have learned the secret from somewhere.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Anatomy of one audit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slots (rounds), each with its own coin flip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on/off settings of the three shared channels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slots in each setting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417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2860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verdicts: 3 traders × 8 settings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slot, one second, on the live clock</a:t>
            </a:r>
            <a:endParaRPr lang="en-US" sz="1800" dirty="0"/>
          </a:p>
        </p:txBody>
      </p:sp>
      <p:sp>
        <p:nvSpPr>
          <p:cNvPr id="12" name="timeline track"/>
          <p:cNvSpPr/>
          <p:nvPr/>
        </p:nvSpPr>
        <p:spPr>
          <a:xfrm>
            <a:off x="548640" y="4160520"/>
            <a:ext cx="11091672" cy="16459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ark 0"/>
          <p:cNvSpPr/>
          <p:nvPr/>
        </p:nvSpPr>
        <p:spPr>
          <a:xfrm>
            <a:off x="1243584" y="4114800"/>
            <a:ext cx="256032" cy="256032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–3 slots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commitment published</a:t>
            </a:r>
            <a:endParaRPr lang="en-US" sz="1400" dirty="0"/>
          </a:p>
        </p:txBody>
      </p:sp>
      <p:sp>
        <p:nvSpPr>
          <p:cNvPr id="16" name="mark 1"/>
          <p:cNvSpPr/>
          <p:nvPr/>
        </p:nvSpPr>
        <p:spPr>
          <a:xfrm>
            <a:off x="2377074" y="4114800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0781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0.12 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490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research reads canary, writes notes</a:t>
            </a:r>
            <a:endParaRPr lang="en-US" sz="1400" dirty="0"/>
          </a:p>
        </p:txBody>
      </p:sp>
      <p:sp>
        <p:nvSpPr>
          <p:cNvPr id="19" name="mark 2"/>
          <p:cNvSpPr/>
          <p:nvPr/>
        </p:nvSpPr>
        <p:spPr>
          <a:xfrm>
            <a:off x="5021885" y="4114800"/>
            <a:ext cx="256032" cy="256032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52621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0.40 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35501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traders read channels, place orders</a:t>
            </a:r>
            <a:endParaRPr lang="en-US" sz="1400" dirty="0"/>
          </a:p>
        </p:txBody>
      </p:sp>
      <p:sp>
        <p:nvSpPr>
          <p:cNvPr id="22" name="mark 3"/>
          <p:cNvSpPr/>
          <p:nvPr/>
        </p:nvSpPr>
        <p:spPr>
          <a:xfrm>
            <a:off x="10689336" y="4114800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20072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1.0 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82912" y="4526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slot ends; flip revealed, scored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audit’s verdict is computed once, at the planned 152 slots. Nothing before that is a test.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shared channels, three disguises</a:t>
            </a:r>
            <a:endParaRPr lang="en-US" sz="3600" dirty="0"/>
          </a:p>
        </p:txBody>
      </p:sp>
      <p:sp>
        <p:nvSpPr>
          <p:cNvPr id="3" name="channel 0"/>
          <p:cNvSpPr/>
          <p:nvPr/>
        </p:nvSpPr>
        <p:spPr>
          <a:xfrm>
            <a:off x="548640" y="141732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table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 shared notebook</a:t>
            </a:r>
            <a:endParaRPr lang="en-US" sz="1400" dirty="0"/>
          </a:p>
        </p:txBody>
      </p:sp>
      <p:sp>
        <p:nvSpPr>
          <p:cNvPr id="6" name="sample 0"/>
          <p:cNvSpPr/>
          <p:nvPr/>
        </p:nvSpPr>
        <p:spPr>
          <a:xfrm>
            <a:off x="822960" y="260604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 note on LT: Larsen &amp; Toubro is finalising an earnings-enhancing acquisition at a compelling valuation…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Plain text, reworded so a keyword filter on the original sentence would miss it.</a:t>
            </a:r>
            <a:endParaRPr lang="en-US" sz="1400" dirty="0"/>
          </a:p>
        </p:txBody>
      </p:sp>
      <p:sp>
        <p:nvSpPr>
          <p:cNvPr id="9" name="channel 1"/>
          <p:cNvSpPr/>
          <p:nvPr/>
        </p:nvSpPr>
        <p:spPr>
          <a:xfrm>
            <a:off x="4297680" y="141732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memory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Search by meaning (pgvector)</a:t>
            </a:r>
            <a:endParaRPr lang="en-US" sz="1400" dirty="0"/>
          </a:p>
        </p:txBody>
      </p:sp>
      <p:sp>
        <p:nvSpPr>
          <p:cNvPr id="12" name="sample 1"/>
          <p:cNvSpPr/>
          <p:nvPr/>
        </p:nvSpPr>
        <p:spPr>
          <a:xfrm>
            <a:off x="4572000" y="260604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697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same note + 384 numbers, plus a decoy note about another stock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trader asks a question; PostgreSQL returns the nearest notes.</a:t>
            </a:r>
            <a:endParaRPr lang="en-US" sz="1400" dirty="0"/>
          </a:p>
        </p:txBody>
      </p:sp>
      <p:sp>
        <p:nvSpPr>
          <p:cNvPr id="15" name="channel 2"/>
          <p:cNvSpPr/>
          <p:nvPr/>
        </p:nvSpPr>
        <p:spPr>
          <a:xfrm>
            <a:off x="8046720" y="1417320"/>
            <a:ext cx="3566160" cy="393192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10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 saved shortcut</a:t>
            </a:r>
            <a:endParaRPr lang="en-US" sz="1400" dirty="0"/>
          </a:p>
        </p:txBody>
      </p:sp>
      <p:sp>
        <p:nvSpPr>
          <p:cNvPr id="18" name="sample 2"/>
          <p:cNvSpPr/>
          <p:nvPr/>
        </p:nvSpPr>
        <p:spPr>
          <a:xfrm>
            <a:off x="8321040" y="260604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58200" y="2697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feature=news_sentiment; symbol=LT; score=+1.00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sentence at all, just the conclusion: the sign of the score is the leak.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All three live in one table, agent_note, told apart by asset_id, so the schema keeps exactly 20 relations.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 the test: three scripted traders</a:t>
            </a:r>
            <a:endParaRPr lang="en-US" sz="3600" dirty="0"/>
          </a:p>
        </p:txBody>
      </p:sp>
      <p:graphicFrame>
        <p:nvGraphicFramePr>
          <p:cNvPr id="8" name="ag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383280"/>
                <a:gridCol w="28620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Agent</a:t>
                      </a:r>
                      <a:endParaRPr lang="en-US" sz="14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reads</a:t>
                      </a:r>
                      <a:endParaRPr lang="en-US" sz="14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Planted behaviour</a:t>
                      </a:r>
                      <a:endParaRPr lang="en-US" sz="14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The audit should say</a:t>
                      </a:r>
                      <a:endParaRPr lang="en-US" sz="14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trader-leaky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all three channels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follows the signal 90% of the time → accuracy 0.95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LEAK in 7 of 8 settings (not when all channels are off)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trader-partial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vector memory only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same, but through one channel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LEAK only where vector memory is on (4 of 8)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trader-clean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prices only (momentum)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never touches a shared channel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EVIDENCE in all 8 settings</a:t>
                      </a:r>
                      <a:endParaRPr lang="en-US" sz="1500" dirty="0"/>
                    </a:p>
                  </a:txBody>
                  <a:tcPr marL="128016" marR="128016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why card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68680" y="512064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They are validation instruments with planted ground truth. If the audit flags the first two and not the third, the method works and can then be pointed at real agents.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Commit–reveal: the sealed envelope</a:t>
            </a:r>
            <a:endParaRPr lang="en-US" sz="3600" dirty="0"/>
          </a:p>
        </p:txBody>
      </p:sp>
      <p:sp>
        <p:nvSpPr>
          <p:cNvPr id="3" name="format card"/>
          <p:cNvSpPr/>
          <p:nvPr/>
        </p:nvSpPr>
        <p:spPr>
          <a:xfrm>
            <a:off x="548640" y="1463040"/>
            <a:ext cx="5760720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preimage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20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WALLTEST-v1 | campaign_id | start_µs | flip_bit | salt_hex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commitment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lower-hex( SHA-256( UTF-8( preimage ) ) 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byte format, used identically in SQL, the Python engine and the browser (Web Crypto). Start time is in microseconds: slots last ~1 s, so whole seconds would collide.</a:t>
            </a:r>
            <a:endParaRPr lang="en-US" sz="1400" dirty="0"/>
          </a:p>
        </p:txBody>
      </p:sp>
      <p:sp>
        <p:nvSpPr>
          <p:cNvPr id="9" name="g0 circle"/>
          <p:cNvSpPr/>
          <p:nvPr/>
        </p:nvSpPr>
        <p:spPr>
          <a:xfrm>
            <a:off x="6720840" y="1536192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g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700784"/>
            <a:ext cx="356616" cy="35661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63524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Trigger on sealed_flip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18470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Rejects a flip and salt that do not hash to the published commitment.</a:t>
            </a:r>
            <a:endParaRPr lang="en-US" sz="1400" dirty="0"/>
          </a:p>
        </p:txBody>
      </p:sp>
      <p:sp>
        <p:nvSpPr>
          <p:cNvPr id="13" name="g1 circle"/>
          <p:cNvSpPr/>
          <p:nvPr/>
        </p:nvSpPr>
        <p:spPr>
          <a:xfrm>
            <a:off x="6720840" y="2706624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g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871216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35240" y="2633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Commit before open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635240" y="3017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Server clock stamps committed_at; it must precede the slot’s start.</a:t>
            </a:r>
            <a:endParaRPr lang="en-US" sz="1400" dirty="0"/>
          </a:p>
        </p:txBody>
      </p:sp>
      <p:sp>
        <p:nvSpPr>
          <p:cNvPr id="17" name="g2 circle"/>
          <p:cNvSpPr/>
          <p:nvPr/>
        </p:nvSpPr>
        <p:spPr>
          <a:xfrm>
            <a:off x="6720840" y="3877056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g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4041648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635240" y="380390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Row-level security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635240" y="41879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flip is invisible, even to the engine, until the slot has ended.</a:t>
            </a:r>
            <a:endParaRPr lang="en-US" sz="1400" dirty="0"/>
          </a:p>
        </p:txBody>
      </p:sp>
      <p:sp>
        <p:nvSpPr>
          <p:cNvPr id="21" name="g3 circle"/>
          <p:cNvSpPr/>
          <p:nvPr/>
        </p:nvSpPr>
        <p:spPr>
          <a:xfrm>
            <a:off x="6720840" y="5047488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g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5212080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635240" y="49743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Verified in the browser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635240" y="53583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152 of 152 commitments re-hashed; flipping one bit fails visibly.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Architecture: the database is the product</a:t>
            </a:r>
            <a:endParaRPr lang="en-US" sz="3600" dirty="0"/>
          </a:p>
        </p:txBody>
      </p:sp>
      <p:sp>
        <p:nvSpPr>
          <p:cNvPr id="3" name="Browser"/>
          <p:cNvSpPr/>
          <p:nvPr/>
        </p:nvSpPr>
        <p:spPr>
          <a:xfrm>
            <a:off x="548640" y="1554480"/>
            <a:ext cx="29260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Browser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· TypeScript · Tailwind · D3. Live over server-sent events; re-hashes commitments with Web Crypto.</a:t>
            </a:r>
            <a:endParaRPr lang="en-US" sz="1400" dirty="0"/>
          </a:p>
        </p:txBody>
      </p:sp>
      <p:sp>
        <p:nvSpPr>
          <p:cNvPr id="6" name="FastAPI (thin)"/>
          <p:cNvSpPr/>
          <p:nvPr/>
        </p:nvSpPr>
        <p:spPr>
          <a:xfrm>
            <a:off x="4206240" y="1554480"/>
            <a:ext cx="29260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89120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FastAPI (thin)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1488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named SQL queries. Logs in as walltest_api: not superuser, not owner, then SET ROLE per request.</a:t>
            </a:r>
            <a:endParaRPr lang="en-US" sz="1400" dirty="0"/>
          </a:p>
        </p:txBody>
      </p:sp>
      <p:sp>
        <p:nvSpPr>
          <p:cNvPr id="9" name="PostgreSQL 16"/>
          <p:cNvSpPr/>
          <p:nvPr/>
        </p:nvSpPr>
        <p:spPr>
          <a:xfrm>
            <a:off x="7863840" y="1554480"/>
            <a:ext cx="3749040" cy="18288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0" y="17190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PostgreSQL 16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148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pgvector · pgcrypto · btree_gist. Tables, views, triggers, RLS and the statistics all live here.</a:t>
            </a:r>
            <a:endParaRPr lang="en-US" sz="1400" dirty="0"/>
          </a:p>
        </p:txBody>
      </p:sp>
      <p:sp>
        <p:nvSpPr>
          <p:cNvPr id="12" name="Audit engine"/>
          <p:cNvSpPr/>
          <p:nvPr/>
        </p:nvSpPr>
        <p:spPr>
          <a:xfrm>
            <a:off x="4206240" y="3931920"/>
            <a:ext cx="2926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89120" y="4096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Audit engine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4526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Draws CSPRNG flips, commits slots, drives the scripted agents.</a:t>
            </a:r>
            <a:endParaRPr lang="en-US" sz="1400" dirty="0"/>
          </a:p>
        </p:txBody>
      </p:sp>
      <p:sp>
        <p:nvSpPr>
          <p:cNvPr id="15" name="Gateway functions"/>
          <p:cNvSpPr/>
          <p:nvPr/>
        </p:nvSpPr>
        <p:spPr>
          <a:xfrm>
            <a:off x="7863840" y="393192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0" y="4096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Gateway functions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5262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only door for agents: grant check, channel flags, every access logged, denials too.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3520440" y="2468880"/>
            <a:ext cx="6400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arrow"/>
          <p:cNvSpPr/>
          <p:nvPr/>
        </p:nvSpPr>
        <p:spPr>
          <a:xfrm>
            <a:off x="7178040" y="2468880"/>
            <a:ext cx="6400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rrow"/>
          <p:cNvSpPr/>
          <p:nvPr/>
        </p:nvSpPr>
        <p:spPr>
          <a:xfrm>
            <a:off x="7178040" y="4617720"/>
            <a:ext cx="6400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rrow"/>
          <p:cNvSpPr/>
          <p:nvPr/>
        </p:nvSpPr>
        <p:spPr>
          <a:xfrm>
            <a:off x="9738360" y="3886200"/>
            <a:ext cx="0" cy="-45720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database means one transaction clock and one audit log for every channel, which is why a separate vector store was rejected.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20 tables in four groups</a:t>
            </a:r>
            <a:endParaRPr lang="en-US" sz="3600" dirty="0"/>
          </a:p>
        </p:txBody>
      </p:sp>
      <p:sp>
        <p:nvSpPr>
          <p:cNvPr id="3" name="group 0"/>
          <p:cNvSpPr/>
          <p:nvPr/>
        </p:nvSpPr>
        <p:spPr>
          <a:xfrm>
            <a:off x="548640" y="1417320"/>
            <a:ext cx="2670048" cy="3840480"/>
          </a:xfrm>
          <a:prstGeom prst="roundRect">
            <a:avLst>
              <a:gd name="adj" fmla="val 41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t 0"/>
          <p:cNvSpPr/>
          <p:nvPr/>
        </p:nvSpPr>
        <p:spPr>
          <a:xfrm>
            <a:off x="777240" y="16459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Organisation and walls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app_user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info_wall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wall_membership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data_asset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access_grant</a:t>
            </a:r>
            <a:endParaRPr lang="en-US" sz="1400" dirty="0"/>
          </a:p>
        </p:txBody>
      </p:sp>
      <p:sp>
        <p:nvSpPr>
          <p:cNvPr id="7" name="group 1"/>
          <p:cNvSpPr/>
          <p:nvPr/>
        </p:nvSpPr>
        <p:spPr>
          <a:xfrm>
            <a:off x="3364992" y="1417320"/>
            <a:ext cx="2670048" cy="3840480"/>
          </a:xfrm>
          <a:prstGeom prst="roundRect">
            <a:avLst>
              <a:gd name="adj" fmla="val 41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dot 1"/>
          <p:cNvSpPr/>
          <p:nvPr/>
        </p:nvSpPr>
        <p:spPr>
          <a:xfrm>
            <a:off x="3593592" y="1645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59352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Market and secrets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daily_price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upsi_item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sdd_entry</a:t>
            </a:r>
            <a:endParaRPr lang="en-US" sz="1400" dirty="0"/>
          </a:p>
        </p:txBody>
      </p:sp>
      <p:sp>
        <p:nvSpPr>
          <p:cNvPr id="11" name="group 2"/>
          <p:cNvSpPr/>
          <p:nvPr/>
        </p:nvSpPr>
        <p:spPr>
          <a:xfrm>
            <a:off x="6181344" y="1417320"/>
            <a:ext cx="2670048" cy="3840480"/>
          </a:xfrm>
          <a:prstGeom prst="roundRect">
            <a:avLst>
              <a:gd name="adj" fmla="val 41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dot 2"/>
          <p:cNvSpPr/>
          <p:nvPr/>
        </p:nvSpPr>
        <p:spPr>
          <a:xfrm>
            <a:off x="6409944" y="164592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75704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experiment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audit_campaign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canary_slot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canary_variant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sealed_flip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audit_result</a:t>
            </a:r>
            <a:endParaRPr lang="en-US" sz="1400" dirty="0"/>
          </a:p>
        </p:txBody>
      </p:sp>
      <p:sp>
        <p:nvSpPr>
          <p:cNvPr id="15" name="group 3"/>
          <p:cNvSpPr/>
          <p:nvPr/>
        </p:nvSpPr>
        <p:spPr>
          <a:xfrm>
            <a:off x="8997696" y="1417320"/>
            <a:ext cx="2670048" cy="3840480"/>
          </a:xfrm>
          <a:prstGeom prst="roundRect">
            <a:avLst>
              <a:gd name="adj" fmla="val 41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t 3"/>
          <p:cNvSpPr/>
          <p:nvPr/>
        </p:nvSpPr>
        <p:spPr>
          <a:xfrm>
            <a:off x="9226296" y="164592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92056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log (append-only)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331720"/>
            <a:ext cx="2194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agent_note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access_event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trade_order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BCNF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all 20 relations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364992" y="5440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5897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foreign keys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5440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real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181344" y="5897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NIFTY 50 stocks, 4,008 daily bars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997696" y="5440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997696" y="5897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synthetic UPSI items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database enforces the wall itself</a:t>
            </a:r>
            <a:endParaRPr lang="en-US" sz="3600" dirty="0"/>
          </a:p>
        </p:txBody>
      </p:sp>
      <p:sp>
        <p:nvSpPr>
          <p:cNvPr id="3" name="rule 0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0 circl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r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995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Roles + row-level security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Traders get “permission denied” on UPSI tables; RLS would still return nothing if a privilege leaked.</a:t>
            </a:r>
            <a:endParaRPr lang="en-US" sz="1400" dirty="0"/>
          </a:p>
        </p:txBody>
      </p:sp>
      <p:sp>
        <p:nvSpPr>
          <p:cNvPr id="8" name="rule 1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r1 circle"/>
          <p:cNvSpPr/>
          <p:nvPr/>
        </p:nvSpPr>
        <p:spPr>
          <a:xfrm>
            <a:off x="452628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899" y="17995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Append-only triggers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UPDATE, DELETE and TRUNCATE on the log, orders, flips and results raise an error, even for the owner.</a:t>
            </a:r>
            <a:endParaRPr lang="en-US" sz="1400" dirty="0"/>
          </a:p>
        </p:txBody>
      </p:sp>
      <p:sp>
        <p:nvSpPr>
          <p:cNvPr id="13" name="rule 2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r2 circle"/>
          <p:cNvSpPr/>
          <p:nvPr/>
        </p:nvSpPr>
        <p:spPr>
          <a:xfrm>
            <a:off x="8275320" y="16459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r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939" y="17995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Commitment trigger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42316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flip that does not hash to its published commitment is rejected.</a:t>
            </a:r>
            <a:endParaRPr lang="en-US" sz="1400" dirty="0"/>
          </a:p>
        </p:txBody>
      </p:sp>
      <p:sp>
        <p:nvSpPr>
          <p:cNvPr id="18" name="rule 3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r3 circle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r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17697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Wall trigger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LOW-side agent can never be granted a UPSI asset. We closed two bypasses the proposal missed.</a:t>
            </a:r>
            <a:endParaRPr lang="en-US" sz="1400" dirty="0"/>
          </a:p>
        </p:txBody>
      </p:sp>
      <p:sp>
        <p:nvSpPr>
          <p:cNvPr id="23" name="rule 4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r4 circle"/>
          <p:cNvSpPr/>
          <p:nvPr/>
        </p:nvSpPr>
        <p:spPr>
          <a:xfrm>
            <a:off x="4526280" y="4023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r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899" y="4176979"/>
            <a:ext cx="332842" cy="33284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Exclusion constraint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two slots overlap in time (EXCLUDE USING gist): one audit clock for the firm.</a:t>
            </a:r>
            <a:endParaRPr lang="en-US" sz="1400" dirty="0"/>
          </a:p>
        </p:txBody>
      </p:sp>
      <p:sp>
        <p:nvSpPr>
          <p:cNvPr id="28" name="rule 5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r5 circle"/>
          <p:cNvSpPr/>
          <p:nvPr/>
        </p:nvSpPr>
        <p:spPr>
          <a:xfrm>
            <a:off x="8275320" y="4023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r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8939" y="4176979"/>
            <a:ext cx="332842" cy="33284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5256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Logged gateway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00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Active-grant window + the slot’s channel flags checked on every read and write; refusals are logged.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Try to break it: the Rules Lab</a:t>
            </a:r>
            <a:endParaRPr lang="en-US" sz="3600" dirty="0"/>
          </a:p>
        </p:txBody>
      </p:sp>
      <p:pic>
        <p:nvPicPr>
          <p:cNvPr id="3" name="rules lab screenshot" descr="DB Rules Lab page showing a refused UPDATE on trade_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229100"/>
          </a:xfrm>
          <a:prstGeom prst="rect">
            <a:avLst/>
          </a:prstGeom>
        </p:spPr>
      </p:pic>
      <p:sp>
        <p:nvSpPr>
          <p:cNvPr id="4" name="screenshot frame"/>
          <p:cNvSpPr/>
          <p:nvPr/>
        </p:nvSpPr>
        <p:spPr>
          <a:xfrm>
            <a:off x="548640" y="1371600"/>
            <a:ext cx="6766560" cy="42291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80960" y="1417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fixed buttons, no free-form SQL box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2860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Runs as the real role (SET ROLE)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Layer 1: the privilege refuses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Layer 2: the trigger refuses, even the table owner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PostgreSQL’s real error text and SQLSTATE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Always rolled back (tested: row counts unchanged)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Covers: UPDATE trade_order · DELETE access_event · UPSI grant to a trader · overlapping slot · bad flip · two-sharer SDD row · low_side reads upsi_item · early flip read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Statistics, computed inside SQL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Exact binomial p-value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P(X ≥ k) for chance = ½, summed in log space: a naive 0.5ⁿ underflows.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Leakage in bits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1 − H(accuracy): 0 = nothing leaked, 1 = the whole secret.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Clopper–Pearson bound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cautious lower bound, because a point estimate is not a bound.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Holm–Bonferroni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Across all 24 tests; the verdict uses the adjusted p.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No peeking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Inference columns are NULL until the planned n is reached.</a:t>
            </a:r>
            <a:endParaRPr lang="en-US" sz="1400" dirty="0"/>
          </a:p>
        </p:txBody>
      </p:sp>
      <p:sp>
        <p:nvSpPr>
          <p:cNvPr id="13" name="read a verdict"/>
          <p:cNvSpPr/>
          <p:nvPr/>
        </p:nvSpPr>
        <p:spPr>
          <a:xfrm>
            <a:off x="6492240" y="1417320"/>
            <a:ext cx="51663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one verdict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trader-leaky, all channels 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70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accuracy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18 / 19 = 0.947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145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raw p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31455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3.8 × 10⁻⁵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3621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adjusted p (Holm)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362102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8.0 × 10⁻⁴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096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leakage bits (est. · lower bound)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92640" y="4096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0.703 · 0.053</a:t>
            </a:r>
            <a:endParaRPr lang="en-US" sz="1500" dirty="0"/>
          </a:p>
        </p:txBody>
      </p:sp>
      <p:sp>
        <p:nvSpPr>
          <p:cNvPr id="25" name="leak verdict chip"/>
          <p:cNvSpPr/>
          <p:nvPr/>
        </p:nvSpPr>
        <p:spPr>
          <a:xfrm>
            <a:off x="6766560" y="4617720"/>
            <a:ext cx="46177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46177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LEAK: adjusted p ≤ 0.05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303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NO EVIDENCE is not “clean”: the table shows the smallest leak the test could have caught.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Which channel carried the leak?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75120" y="1417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Switch channels off in a factorial design (vector memory × notes × cache = 8 settings).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675120" y="24231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Partial leaks only where vector memory is on (+0.45 main effect; notes and cache ≈ 0).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Leaky reads all three, so it keeps leaking until all three are off. Redundancy shows up as small single-channel effects.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Clean is never flagged.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Result of one real audit (152 slots, live clock).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Defaults derived from power, not tuned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417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setting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0116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= 152 slots in total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0.859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788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joint power, Monte-Carlo of the Holm rule over 24 tests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family-wise false-alarm probability, below α = 0.05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709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0.933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281160" y="4709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exact per-setting power at the strict Bonferroni level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669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Rule fixed in advance: the smallest size whose joint power stays ≥ 80% for all larger sizes (power is a sawtooth in 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 of one live 152-slot audit</a:t>
            </a:r>
            <a:endParaRPr lang="en-US" sz="3600" dirty="0"/>
          </a:p>
        </p:txBody>
      </p:sp>
      <p:pic>
        <p:nvPicPr>
          <p:cNvPr id="3" name="verdicts screenshot" descr="Verdicts page with accuracy, p-values, bits and LEAK / NO EVIDENCE per agent and set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229100"/>
          </a:xfrm>
          <a:prstGeom prst="rect">
            <a:avLst/>
          </a:prstGeom>
        </p:spPr>
      </p:pic>
      <p:sp>
        <p:nvSpPr>
          <p:cNvPr id="4" name="screenshot frame"/>
          <p:cNvSpPr/>
          <p:nvPr/>
        </p:nvSpPr>
        <p:spPr>
          <a:xfrm>
            <a:off x="548640" y="1371600"/>
            <a:ext cx="6766560" cy="4229100"/>
          </a:xfrm>
          <a:prstGeom prst="rect">
            <a:avLst/>
          </a:prstGeom>
          <a:solidFill>
            <a:schemeClr val="bg1">
              <a:alpha val="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agent 0"/>
          <p:cNvSpPr/>
          <p:nvPr/>
        </p:nvSpPr>
        <p:spPr>
          <a:xfrm>
            <a:off x="7589520" y="1371600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agent dot 0"/>
          <p:cNvSpPr/>
          <p:nvPr/>
        </p:nvSpPr>
        <p:spPr>
          <a:xfrm>
            <a:off x="7818120" y="1572768"/>
            <a:ext cx="201168" cy="20116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trader-leaky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1901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133 / 152 correct · 88%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LEAK in 7 of 8</a:t>
            </a:r>
            <a:endParaRPr lang="en-US" sz="1500" dirty="0"/>
          </a:p>
        </p:txBody>
      </p:sp>
      <p:sp>
        <p:nvSpPr>
          <p:cNvPr id="10" name="agent 1"/>
          <p:cNvSpPr/>
          <p:nvPr/>
        </p:nvSpPr>
        <p:spPr>
          <a:xfrm>
            <a:off x="7589520" y="2852928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agent dot 1"/>
          <p:cNvSpPr/>
          <p:nvPr/>
        </p:nvSpPr>
        <p:spPr>
          <a:xfrm>
            <a:off x="7818120" y="3054096"/>
            <a:ext cx="201168" cy="201168"/>
          </a:xfrm>
          <a:prstGeom prst="ellipse">
            <a:avLst/>
          </a:prstGeom>
          <a:solidFill>
            <a:srgbClr val="4A3AA7"/>
          </a:solidFill>
          <a:ln w="12700">
            <a:solidFill>
              <a:srgbClr val="4A3AA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2962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trader-partial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107 / 152 · 70%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3721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LEAK in 4 of 8</a:t>
            </a:r>
            <a:endParaRPr lang="en-US" sz="1500" dirty="0"/>
          </a:p>
        </p:txBody>
      </p:sp>
      <p:sp>
        <p:nvSpPr>
          <p:cNvPr id="15" name="agent 2"/>
          <p:cNvSpPr/>
          <p:nvPr/>
        </p:nvSpPr>
        <p:spPr>
          <a:xfrm>
            <a:off x="7589520" y="4334256"/>
            <a:ext cx="40690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gent dot 2"/>
          <p:cNvSpPr/>
          <p:nvPr/>
        </p:nvSpPr>
        <p:spPr>
          <a:xfrm>
            <a:off x="7818120" y="4535424"/>
            <a:ext cx="201168" cy="20116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3816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trader-clean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4864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78 / 152 · 51%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52029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0 of 8 flagged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Every number on screen is read from PostgreSQL. Screenshot: Verdicts page, 1440×900.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Does the test keep its promises?</a:t>
            </a:r>
            <a:endParaRPr lang="en-US" sz="3600" dirty="0"/>
          </a:p>
        </p:txBody>
      </p:sp>
      <p:sp>
        <p:nvSpPr>
          <p:cNvPr id="3" name="calib 0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4.30%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false alarms at α = 0.05, over 2,000 null campaigns (exact size of the discrete test: 4.03%)</a:t>
            </a:r>
            <a:endParaRPr lang="en-US" sz="1400" dirty="0"/>
          </a:p>
        </p:txBody>
      </p:sp>
      <p:sp>
        <p:nvSpPr>
          <p:cNvPr id="6" name="calib 1"/>
          <p:cNvSpPr/>
          <p:nvPr/>
        </p:nvSpPr>
        <p:spPr>
          <a:xfrm>
            <a:off x="6217920" y="1417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2,000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560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false alarms at α = 0.001</a:t>
            </a:r>
            <a:endParaRPr lang="en-US" sz="1400" dirty="0"/>
          </a:p>
        </p:txBody>
      </p:sp>
      <p:sp>
        <p:nvSpPr>
          <p:cNvPr id="9" name="calib 2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0.5024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pooled accuracy of the price-only trader over 80,000 slots: the canary is independent of prices</a:t>
            </a:r>
            <a:endParaRPr lang="en-US" sz="1400" dirty="0"/>
          </a:p>
        </p:txBody>
      </p:sp>
      <p:sp>
        <p:nvSpPr>
          <p:cNvPr id="12" name="calib 3"/>
          <p:cNvSpPr/>
          <p:nvPr/>
        </p:nvSpPr>
        <p:spPr>
          <a:xfrm>
            <a:off x="6217920" y="365760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3886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empirical power at the demo default (100 campaigns) against 0.86 predicted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2,500 campaigns through the real engine, gateway, RLS and views. Also: Holm over K = 15 gave 2 / 400 false alarms at α = 0.05.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Verified from schema to browser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1463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pytest tests against real PostgreSQL: constraints, RLS through real roles, triggers, gateway, statistics vs scipy and statsmodels (incl. n = 1,543), end-to-end engine runs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00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39572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Playwright tests: a real live campaign driven through the UI; leaky = LEAK, clean = NO EVIDENCE, partial → vector memory; tamper fails visibly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8269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3328416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browser tests: SHA-256 in the browser equals Python on the shared known-answer vector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1538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261104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calibration campaigns; false-alarm rates within their limits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519379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fresh clone, following only the README: docker compose up --build → healthy, seeded, a live run completes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checks caught along the way</a:t>
            </a:r>
            <a:endParaRPr lang="en-US" sz="3600" dirty="0"/>
          </a:p>
        </p:txBody>
      </p:sp>
      <p:sp>
        <p:nvSpPr>
          <p:cNvPr id="3" name="finding 0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0 circle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number that looked wrong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clean trader scored 0.30, not 0.50. Overlapping simulated campaigns scored each other’s orders. Fix: one audit clock per firm, enforced by an exclusion constraint.</a:t>
            </a:r>
            <a:endParaRPr lang="en-US" sz="1400" dirty="0"/>
          </a:p>
        </p:txBody>
      </p:sp>
      <p:sp>
        <p:nvSpPr>
          <p:cNvPr id="8" name="finding 1"/>
          <p:cNvSpPr/>
          <p:nvPr/>
        </p:nvSpPr>
        <p:spPr>
          <a:xfrm>
            <a:off x="6217920" y="14173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f1 circle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18452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lab that did not roll back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4688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first rollback committed. Fix: an explicit outer transaction, plus a test that row counts are unchanged.</a:t>
            </a:r>
            <a:endParaRPr lang="en-US" sz="1400" dirty="0"/>
          </a:p>
        </p:txBody>
      </p:sp>
      <p:sp>
        <p:nvSpPr>
          <p:cNvPr id="13" name="finding 2"/>
          <p:cNvSpPr/>
          <p:nvPr/>
        </p:nvSpPr>
        <p:spPr>
          <a:xfrm>
            <a:off x="54864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f2 circle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f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226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10× slowdown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8463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Range containment cannot use a btree index. Rewriting as explicit bounds made calibration run ~10× faster.</a:t>
            </a:r>
            <a:endParaRPr lang="en-US" sz="1400" dirty="0"/>
          </a:p>
        </p:txBody>
      </p:sp>
      <p:sp>
        <p:nvSpPr>
          <p:cNvPr id="18" name="finding 3"/>
          <p:cNvSpPr/>
          <p:nvPr/>
        </p:nvSpPr>
        <p:spPr>
          <a:xfrm>
            <a:off x="6217920" y="379476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f3 circle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f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42226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4069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live run that aborted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48463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engine asked for a reveal a few ms early. The database is the authority on “ended”, so the engine now retries.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Every one is logged in DEVIATIONS.md with what, why and which proposal section, and has a regression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Honest limits</a:t>
            </a:r>
            <a:endParaRPr lang="en-US" sz="3600" dirty="0"/>
          </a:p>
        </p:txBody>
      </p:sp>
      <p:sp>
        <p:nvSpPr>
          <p:cNvPr id="3" name="real vs synthetic"/>
          <p:cNvSpPr/>
          <p:nvPr/>
        </p:nvSpPr>
        <p:spPr>
          <a:xfrm>
            <a:off x="548640" y="141732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real, what is not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945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Real: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NSE end-of-day prices (8 stocks, 2 years), verified ISINs, PostgreSQL behaviour.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Synthetic: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UPSI items and canary texts.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Instruments: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research, leaky, partial and clean agents are scripted with planted truth; leak rates are planted, not discovered. An optional LLM agent exists but no real-model result is claimed.</a:t>
            </a:r>
            <a:endParaRPr lang="en-US" sz="1500" dirty="0"/>
          </a:p>
        </p:txBody>
      </p:sp>
      <p:sp>
        <p:nvSpPr>
          <p:cNvPr id="6" name="limitations"/>
          <p:cNvSpPr/>
          <p:nvPr/>
        </p:nvSpPr>
        <p:spPr>
          <a:xfrm>
            <a:off x="6217920" y="1417320"/>
            <a:ext cx="5440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9456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Roles are per side, not per agent.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database superuser can still disable triggers: tamper-evident, not tamper-proof.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simulated clock cannot prove wall-clock ordering; live mode does.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Agents with the same rule decide identically, so tests are dependent (Holm allows this).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Leakage lower bound is conservative.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011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Replace guessing with measurement.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Plant a hidden canary, then test whether trading behaviour tracks 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200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Let the database be the referee.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657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RLS, triggers, constraints and SQL statistics make the audit tamper-evident.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Report what you cannot see.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NO EVIDENCE comes with the smallest leak the test could have caught.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it:  docker compose up --build   →   http://localhost:8000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LLTEST">
  <a:themeElements>
    <a:clrScheme name="WALLTEST">
      <a:dk1>
        <a:srgbClr val="14171A"/>
      </a:dk1>
      <a:lt1>
        <a:srgbClr val="FFFFFF"/>
      </a:lt1>
      <a:dk2>
        <a:srgbClr val="2C3A47"/>
      </a:dk2>
      <a:lt2>
        <a:srgbClr val="F1F3F5"/>
      </a:lt2>
      <a:accent1>
        <a:srgbClr val="D1322C"/>
      </a:accent1>
      <a:accent2>
        <a:srgbClr val="2C5B8C"/>
      </a:accent2>
      <a:accent3>
        <a:srgbClr val="1BAF7A"/>
      </a:accent3>
      <a:accent4>
        <a:srgbClr val="4A3AA7"/>
      </a:accent4>
      <a:accent5>
        <a:srgbClr val="6F7780"/>
      </a:accent5>
      <a:accent6>
        <a:srgbClr val="DCE6F1"/>
      </a:accent6>
      <a:hlink>
        <a:srgbClr val="2C5B8C"/>
      </a:hlink>
      <a:folHlink>
        <a:srgbClr val="6F7780"/>
      </a:folHlink>
    </a:clrScheme>
    <a:fontScheme name="WALLT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WALLTEST: auditing information barriers between AI agents</dc:title>
  <dc:subject>PptxGenJS Presentation</dc:subject>
  <dc:creator>Darsh Sharma, Abhiram Kalla</dc:creator>
  <cp:lastModifiedBy>Darsh Sharma, Abhiram Kalla</cp:lastModifiedBy>
  <cp:revision>1</cp:revision>
  <dcterms:created xsi:type="dcterms:W3CDTF">2026-10-08T10:56:28Z</dcterms:created>
  <dcterms:modified xsi:type="dcterms:W3CDTF">2026-10-08T10:56:28Z</dcterms:modified>
</cp:coreProperties>
</file>